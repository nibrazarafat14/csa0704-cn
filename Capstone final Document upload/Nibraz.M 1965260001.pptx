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4775" y="193548"/>
            <a:ext cx="7654565" cy="7951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211418"/>
            <a:ext cx="8251190" cy="32168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2943" y="1248511"/>
            <a:ext cx="7707630" cy="14522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1011555">
              <a:lnSpc>
                <a:spcPct val="100600"/>
              </a:lnSpc>
              <a:spcBef>
                <a:spcPts val="95"/>
              </a:spcBef>
            </a:pPr>
            <a:r>
              <a:rPr dirty="0" sz="4650" spc="-100" b="1">
                <a:latin typeface="Arial"/>
                <a:cs typeface="Arial"/>
              </a:rPr>
              <a:t>ATM-</a:t>
            </a:r>
            <a:r>
              <a:rPr dirty="0" sz="4650" spc="-10" b="1">
                <a:latin typeface="Arial"/>
                <a:cs typeface="Arial"/>
              </a:rPr>
              <a:t>to-</a:t>
            </a:r>
            <a:r>
              <a:rPr dirty="0" sz="4650" b="1">
                <a:latin typeface="Arial"/>
                <a:cs typeface="Arial"/>
              </a:rPr>
              <a:t>Bank</a:t>
            </a:r>
            <a:r>
              <a:rPr dirty="0" sz="4650" spc="25" b="1">
                <a:latin typeface="Arial"/>
                <a:cs typeface="Arial"/>
              </a:rPr>
              <a:t> </a:t>
            </a:r>
            <a:r>
              <a:rPr dirty="0" sz="4650" spc="-10" b="1">
                <a:latin typeface="Arial"/>
                <a:cs typeface="Arial"/>
              </a:rPr>
              <a:t>Server </a:t>
            </a:r>
            <a:r>
              <a:rPr dirty="0" sz="4650" b="1">
                <a:latin typeface="Arial"/>
                <a:cs typeface="Arial"/>
              </a:rPr>
              <a:t>Communication</a:t>
            </a:r>
            <a:r>
              <a:rPr dirty="0" sz="4650" spc="-70" b="1">
                <a:latin typeface="Arial"/>
                <a:cs typeface="Arial"/>
              </a:rPr>
              <a:t> </a:t>
            </a:r>
            <a:r>
              <a:rPr dirty="0" sz="4650" spc="-10" b="1">
                <a:latin typeface="Arial"/>
                <a:cs typeface="Arial"/>
              </a:rPr>
              <a:t>Simulation</a:t>
            </a:r>
            <a:endParaRPr sz="46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6802" y="3896000"/>
            <a:ext cx="2392045" cy="67881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 marR="5080" indent="436245">
              <a:lnSpc>
                <a:spcPts val="2280"/>
              </a:lnSpc>
              <a:spcBef>
                <a:spcPts val="655"/>
              </a:spcBef>
            </a:pPr>
            <a:r>
              <a:rPr dirty="0" sz="2350">
                <a:latin typeface="Arial MT"/>
                <a:cs typeface="Arial MT"/>
              </a:rPr>
              <a:t>Guided</a:t>
            </a:r>
            <a:r>
              <a:rPr dirty="0" sz="2350" spc="-30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By:</a:t>
            </a:r>
            <a:r>
              <a:rPr dirty="0" sz="2350" spc="5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Dr.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K.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Jai</a:t>
            </a:r>
            <a:r>
              <a:rPr dirty="0" sz="2350" spc="-3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Sharma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6200" y="3577006"/>
            <a:ext cx="32778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Presented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By: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Pradeesh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selvan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65">
                <a:latin typeface="Arial MT"/>
                <a:cs typeface="Arial MT"/>
              </a:rPr>
              <a:t>V-</a:t>
            </a:r>
            <a:r>
              <a:rPr dirty="0" sz="1800" spc="-10">
                <a:latin typeface="Arial MT"/>
                <a:cs typeface="Arial MT"/>
              </a:rPr>
              <a:t>1925260027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37150" y="4160000"/>
          <a:ext cx="3409950" cy="529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475"/>
                <a:gridCol w="553085"/>
                <a:gridCol w="1519555"/>
              </a:tblGrid>
              <a:tr h="264795">
                <a:tc>
                  <a:txBody>
                    <a:bodyPr/>
                    <a:lstStyle/>
                    <a:p>
                      <a:pPr marL="31750">
                        <a:lnSpc>
                          <a:spcPts val="1985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Kavin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4940">
                        <a:lnSpc>
                          <a:spcPts val="1985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-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ts val="1985"/>
                        </a:lnSpc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1965260051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264795">
                <a:tc>
                  <a:txBody>
                    <a:bodyPr/>
                    <a:lstStyle/>
                    <a:p>
                      <a:pPr marL="31750">
                        <a:lnSpc>
                          <a:spcPts val="1985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Nibraz</a:t>
                      </a:r>
                      <a:r>
                        <a:rPr dirty="0" sz="18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0495">
                        <a:lnSpc>
                          <a:spcPts val="1985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-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985"/>
                        </a:lnSpc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1965260001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3125"/>
            <a:ext cx="9063175" cy="792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464" rIns="0" bIns="0" rtlCol="0" vert="horz">
            <a:spAutoFit/>
          </a:bodyPr>
          <a:lstStyle/>
          <a:p>
            <a:pPr marL="2300605">
              <a:lnSpc>
                <a:spcPct val="100000"/>
              </a:lnSpc>
              <a:spcBef>
                <a:spcPts val="120"/>
              </a:spcBef>
            </a:pPr>
            <a:r>
              <a:rPr dirty="0"/>
              <a:t>TABLE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3293745" cy="217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•ABSTRACT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1800" spc="-10">
                <a:latin typeface="Arial MT"/>
                <a:cs typeface="Arial MT"/>
              </a:rPr>
              <a:t>•INTRODUCTION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1800">
                <a:latin typeface="Arial MT"/>
                <a:cs typeface="Arial MT"/>
              </a:rPr>
              <a:t>•MODULES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IMPLEMENTATION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1800" spc="-10">
                <a:latin typeface="Arial MT"/>
                <a:cs typeface="Arial MT"/>
              </a:rPr>
              <a:t>•RESULT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1800" spc="-10">
                <a:latin typeface="Arial MT"/>
                <a:cs typeface="Arial MT"/>
              </a:rPr>
              <a:t>•CONCLUSION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15" y="51275"/>
            <a:ext cx="997949" cy="1101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4570" y="51275"/>
            <a:ext cx="1109428" cy="1212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865" rIns="0" bIns="0" rtlCol="0" vert="horz">
            <a:spAutoFit/>
          </a:bodyPr>
          <a:lstStyle/>
          <a:p>
            <a:pPr marL="30353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ABSTRACT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/>
              <a:t>•Simulates</a:t>
            </a:r>
            <a:r>
              <a:rPr dirty="0" sz="2000" spc="-85"/>
              <a:t> </a:t>
            </a:r>
            <a:r>
              <a:rPr dirty="0" sz="2000"/>
              <a:t>communication</a:t>
            </a:r>
            <a:r>
              <a:rPr dirty="0" sz="2000" spc="-50"/>
              <a:t> </a:t>
            </a:r>
            <a:r>
              <a:rPr dirty="0" sz="2000" spc="-20"/>
              <a:t>between</a:t>
            </a:r>
            <a:r>
              <a:rPr dirty="0" sz="2000" spc="-114"/>
              <a:t> </a:t>
            </a:r>
            <a:r>
              <a:rPr dirty="0" sz="2000" spc="-20"/>
              <a:t>ATMs</a:t>
            </a:r>
            <a:r>
              <a:rPr dirty="0" sz="2000" spc="-50"/>
              <a:t> </a:t>
            </a:r>
            <a:r>
              <a:rPr dirty="0" sz="2000"/>
              <a:t>and</a:t>
            </a:r>
            <a:r>
              <a:rPr dirty="0" sz="2000" spc="-50"/>
              <a:t> </a:t>
            </a:r>
            <a:r>
              <a:rPr dirty="0" sz="2000"/>
              <a:t>a</a:t>
            </a:r>
            <a:r>
              <a:rPr dirty="0" sz="2000" spc="-50"/>
              <a:t> </a:t>
            </a:r>
            <a:r>
              <a:rPr dirty="0" sz="2000"/>
              <a:t>central</a:t>
            </a:r>
            <a:r>
              <a:rPr dirty="0" sz="2000" spc="-45"/>
              <a:t> </a:t>
            </a:r>
            <a:r>
              <a:rPr dirty="0" sz="2000"/>
              <a:t>bank</a:t>
            </a:r>
            <a:r>
              <a:rPr dirty="0" sz="2000" spc="-50"/>
              <a:t> </a:t>
            </a:r>
            <a:r>
              <a:rPr dirty="0" sz="2000" spc="-10"/>
              <a:t>server.</a:t>
            </a:r>
            <a:endParaRPr sz="2000"/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/>
              <a:t>•Uses</a:t>
            </a:r>
            <a:r>
              <a:rPr dirty="0" sz="2000" spc="-60"/>
              <a:t> </a:t>
            </a:r>
            <a:r>
              <a:rPr dirty="0" sz="2000"/>
              <a:t>3</a:t>
            </a:r>
            <a:r>
              <a:rPr dirty="0" sz="2000" spc="-135"/>
              <a:t> </a:t>
            </a:r>
            <a:r>
              <a:rPr dirty="0" sz="2000" spc="-20"/>
              <a:t>ATMs</a:t>
            </a:r>
            <a:r>
              <a:rPr dirty="0" sz="2000" spc="-50"/>
              <a:t> </a:t>
            </a:r>
            <a:r>
              <a:rPr dirty="0" sz="2000"/>
              <a:t>connected</a:t>
            </a:r>
            <a:r>
              <a:rPr dirty="0" sz="2000" spc="-45"/>
              <a:t> </a:t>
            </a:r>
            <a:r>
              <a:rPr dirty="0" sz="2000"/>
              <a:t>through</a:t>
            </a:r>
            <a:r>
              <a:rPr dirty="0" sz="2000" spc="-45"/>
              <a:t> </a:t>
            </a:r>
            <a:r>
              <a:rPr dirty="0" sz="2000"/>
              <a:t>a</a:t>
            </a:r>
            <a:r>
              <a:rPr dirty="0" sz="2000" spc="-50"/>
              <a:t> </a:t>
            </a:r>
            <a:r>
              <a:rPr dirty="0" sz="2000" spc="-10"/>
              <a:t>router.</a:t>
            </a:r>
            <a:endParaRPr sz="2000"/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/>
              <a:t>•Implements</a:t>
            </a:r>
            <a:r>
              <a:rPr dirty="0" sz="2000" spc="-140"/>
              <a:t> </a:t>
            </a:r>
            <a:r>
              <a:rPr dirty="0" sz="2000" spc="-30"/>
              <a:t>ATM</a:t>
            </a:r>
            <a:r>
              <a:rPr dirty="0" sz="2000" spc="-65"/>
              <a:t> </a:t>
            </a:r>
            <a:r>
              <a:rPr dirty="0" sz="2000"/>
              <a:t>transactions</a:t>
            </a:r>
            <a:r>
              <a:rPr dirty="0" sz="2000" spc="-50"/>
              <a:t> </a:t>
            </a:r>
            <a:r>
              <a:rPr dirty="0" sz="2000"/>
              <a:t>such</a:t>
            </a:r>
            <a:r>
              <a:rPr dirty="0" sz="2000" spc="-50"/>
              <a:t> </a:t>
            </a:r>
            <a:r>
              <a:rPr dirty="0" sz="2000"/>
              <a:t>as</a:t>
            </a:r>
            <a:r>
              <a:rPr dirty="0" sz="2000" spc="-55"/>
              <a:t> </a:t>
            </a:r>
            <a:r>
              <a:rPr dirty="0" sz="2000"/>
              <a:t>balance</a:t>
            </a:r>
            <a:r>
              <a:rPr dirty="0" sz="2000" spc="-50"/>
              <a:t> </a:t>
            </a:r>
            <a:r>
              <a:rPr dirty="0" sz="2000"/>
              <a:t>checking</a:t>
            </a:r>
            <a:r>
              <a:rPr dirty="0" sz="2000" spc="-50"/>
              <a:t> </a:t>
            </a:r>
            <a:r>
              <a:rPr dirty="0" sz="2000"/>
              <a:t>and</a:t>
            </a:r>
            <a:r>
              <a:rPr dirty="0" sz="2000" spc="-50"/>
              <a:t> </a:t>
            </a:r>
            <a:r>
              <a:rPr dirty="0" sz="2000" spc="-10"/>
              <a:t>withdrawal.</a:t>
            </a:r>
            <a:endParaRPr sz="2000"/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/>
              <a:t>•Uses</a:t>
            </a:r>
            <a:r>
              <a:rPr dirty="0" sz="2000" spc="-35"/>
              <a:t> </a:t>
            </a:r>
            <a:r>
              <a:rPr dirty="0" sz="2000"/>
              <a:t>a</a:t>
            </a:r>
            <a:r>
              <a:rPr dirty="0" sz="2000" spc="-30"/>
              <a:t> </a:t>
            </a:r>
            <a:r>
              <a:rPr dirty="0" sz="2000"/>
              <a:t>web</a:t>
            </a:r>
            <a:r>
              <a:rPr dirty="0" sz="2000" spc="-30"/>
              <a:t> </a:t>
            </a:r>
            <a:r>
              <a:rPr dirty="0" sz="2000" spc="-10"/>
              <a:t>application</a:t>
            </a:r>
            <a:r>
              <a:rPr dirty="0" sz="2000" spc="-35"/>
              <a:t> </a:t>
            </a:r>
            <a:r>
              <a:rPr dirty="0" sz="2000"/>
              <a:t>to</a:t>
            </a:r>
            <a:r>
              <a:rPr dirty="0" sz="2000" spc="-30"/>
              <a:t> </a:t>
            </a:r>
            <a:r>
              <a:rPr dirty="0" sz="2000"/>
              <a:t>demonstrate</a:t>
            </a:r>
            <a:r>
              <a:rPr dirty="0" sz="2000" spc="-30"/>
              <a:t> </a:t>
            </a:r>
            <a:r>
              <a:rPr dirty="0" sz="2000"/>
              <a:t>the</a:t>
            </a:r>
            <a:r>
              <a:rPr dirty="0" sz="2000" spc="-30"/>
              <a:t> </a:t>
            </a:r>
            <a:r>
              <a:rPr dirty="0" sz="2000"/>
              <a:t>bank-server</a:t>
            </a:r>
            <a:r>
              <a:rPr dirty="0" sz="2000" spc="-35"/>
              <a:t> </a:t>
            </a:r>
            <a:r>
              <a:rPr dirty="0" sz="2000" spc="-10"/>
              <a:t>operation.</a:t>
            </a:r>
            <a:endParaRPr sz="2000"/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/>
              <a:t>•Uses</a:t>
            </a:r>
            <a:r>
              <a:rPr dirty="0" sz="2000" spc="-40"/>
              <a:t> </a:t>
            </a:r>
            <a:r>
              <a:rPr dirty="0" sz="2000"/>
              <a:t>Wireshark</a:t>
            </a:r>
            <a:r>
              <a:rPr dirty="0" sz="2000" spc="-35"/>
              <a:t> </a:t>
            </a:r>
            <a:r>
              <a:rPr dirty="0" sz="2000"/>
              <a:t>to</a:t>
            </a:r>
            <a:r>
              <a:rPr dirty="0" sz="2000" spc="-35"/>
              <a:t> </a:t>
            </a:r>
            <a:r>
              <a:rPr dirty="0" sz="2000"/>
              <a:t>analyse</a:t>
            </a:r>
            <a:r>
              <a:rPr dirty="0" sz="2000" spc="-40"/>
              <a:t> </a:t>
            </a:r>
            <a:r>
              <a:rPr dirty="0" sz="2000"/>
              <a:t>network</a:t>
            </a:r>
            <a:r>
              <a:rPr dirty="0" sz="2000" spc="-35"/>
              <a:t> </a:t>
            </a:r>
            <a:r>
              <a:rPr dirty="0" sz="2000" spc="-10"/>
              <a:t>traffic.</a:t>
            </a:r>
            <a:endParaRPr sz="2000"/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/>
              <a:t>•Identifies</a:t>
            </a:r>
            <a:r>
              <a:rPr dirty="0" sz="2000" spc="-45"/>
              <a:t> </a:t>
            </a:r>
            <a:r>
              <a:rPr dirty="0" sz="2000"/>
              <a:t>plaintext</a:t>
            </a:r>
            <a:r>
              <a:rPr dirty="0" sz="2000" spc="-45"/>
              <a:t> </a:t>
            </a:r>
            <a:r>
              <a:rPr dirty="0" sz="2000"/>
              <a:t>data</a:t>
            </a:r>
            <a:r>
              <a:rPr dirty="0" sz="2000" spc="-40"/>
              <a:t> </a:t>
            </a:r>
            <a:r>
              <a:rPr dirty="0" sz="2000"/>
              <a:t>risks</a:t>
            </a:r>
            <a:r>
              <a:rPr dirty="0" sz="2000" spc="-45"/>
              <a:t> </a:t>
            </a:r>
            <a:r>
              <a:rPr dirty="0" sz="2000"/>
              <a:t>and</a:t>
            </a:r>
            <a:r>
              <a:rPr dirty="0" sz="2000" spc="-40"/>
              <a:t> </a:t>
            </a:r>
            <a:r>
              <a:rPr dirty="0" sz="2000"/>
              <a:t>recommends</a:t>
            </a:r>
            <a:r>
              <a:rPr dirty="0" sz="2000" spc="-75"/>
              <a:t> </a:t>
            </a:r>
            <a:r>
              <a:rPr dirty="0" sz="2000"/>
              <a:t>TLS</a:t>
            </a:r>
            <a:r>
              <a:rPr dirty="0" sz="2000" spc="-45"/>
              <a:t> </a:t>
            </a:r>
            <a:r>
              <a:rPr dirty="0" sz="2000" spc="-10"/>
              <a:t>encryption.</a:t>
            </a:r>
            <a:endParaRPr sz="2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0"/>
            <a:ext cx="847499" cy="9351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5138" y="0"/>
            <a:ext cx="958861" cy="9971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014" rIns="0" bIns="0" rtlCol="0" vert="horz">
            <a:spAutoFit/>
          </a:bodyPr>
          <a:lstStyle/>
          <a:p>
            <a:pPr marL="255651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/>
              <a:t>•ATMs</a:t>
            </a:r>
            <a:r>
              <a:rPr dirty="0" sz="1800" spc="-35"/>
              <a:t> </a:t>
            </a:r>
            <a:r>
              <a:rPr dirty="0" sz="1800"/>
              <a:t>need</a:t>
            </a:r>
            <a:r>
              <a:rPr dirty="0" sz="1800" spc="-20"/>
              <a:t> </a:t>
            </a:r>
            <a:r>
              <a:rPr dirty="0" sz="1800"/>
              <a:t>to</a:t>
            </a:r>
            <a:r>
              <a:rPr dirty="0" sz="1800" spc="-20"/>
              <a:t> </a:t>
            </a:r>
            <a:r>
              <a:rPr dirty="0" sz="1800"/>
              <a:t>communicate</a:t>
            </a:r>
            <a:r>
              <a:rPr dirty="0" sz="1800" spc="-25"/>
              <a:t> </a:t>
            </a:r>
            <a:r>
              <a:rPr dirty="0" sz="1800"/>
              <a:t>with</a:t>
            </a:r>
            <a:r>
              <a:rPr dirty="0" sz="1800" spc="-20"/>
              <a:t> </a:t>
            </a:r>
            <a:r>
              <a:rPr dirty="0" sz="1800"/>
              <a:t>a</a:t>
            </a:r>
            <a:r>
              <a:rPr dirty="0" sz="1800" spc="-20"/>
              <a:t> </a:t>
            </a:r>
            <a:r>
              <a:rPr dirty="0" sz="1800"/>
              <a:t>bank</a:t>
            </a:r>
            <a:r>
              <a:rPr dirty="0" sz="1800" spc="-25"/>
              <a:t> </a:t>
            </a:r>
            <a:r>
              <a:rPr dirty="0" sz="1800"/>
              <a:t>server</a:t>
            </a:r>
            <a:r>
              <a:rPr dirty="0" sz="1800" spc="-20"/>
              <a:t> </a:t>
            </a:r>
            <a:r>
              <a:rPr dirty="0" sz="1800"/>
              <a:t>to</a:t>
            </a:r>
            <a:r>
              <a:rPr dirty="0" sz="1800" spc="-20"/>
              <a:t> </a:t>
            </a:r>
            <a:r>
              <a:rPr dirty="0" sz="1800"/>
              <a:t>process</a:t>
            </a:r>
            <a:r>
              <a:rPr dirty="0" sz="1800" spc="-20"/>
              <a:t> </a:t>
            </a:r>
            <a:r>
              <a:rPr dirty="0" sz="1800" spc="-10"/>
              <a:t>transactions.</a:t>
            </a:r>
            <a:endParaRPr sz="1800"/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1800"/>
              <a:t>•The</a:t>
            </a:r>
            <a:r>
              <a:rPr dirty="0" sz="1800" spc="-120"/>
              <a:t> </a:t>
            </a:r>
            <a:r>
              <a:rPr dirty="0" sz="1800" spc="-30"/>
              <a:t>ATM</a:t>
            </a:r>
            <a:r>
              <a:rPr dirty="0" sz="1800" spc="-25"/>
              <a:t> </a:t>
            </a:r>
            <a:r>
              <a:rPr dirty="0" sz="1800"/>
              <a:t>sends</a:t>
            </a:r>
            <a:r>
              <a:rPr dirty="0" sz="1800" spc="-20"/>
              <a:t> </a:t>
            </a:r>
            <a:r>
              <a:rPr dirty="0" sz="1800"/>
              <a:t>a</a:t>
            </a:r>
            <a:r>
              <a:rPr dirty="0" sz="1800" spc="-20"/>
              <a:t> </a:t>
            </a:r>
            <a:r>
              <a:rPr dirty="0" sz="1800"/>
              <a:t>request</a:t>
            </a:r>
            <a:r>
              <a:rPr dirty="0" sz="1800" spc="-25"/>
              <a:t> </a:t>
            </a:r>
            <a:r>
              <a:rPr dirty="0" sz="1800"/>
              <a:t>to</a:t>
            </a:r>
            <a:r>
              <a:rPr dirty="0" sz="1800" spc="-20"/>
              <a:t> </a:t>
            </a:r>
            <a:r>
              <a:rPr dirty="0" sz="1800"/>
              <a:t>the</a:t>
            </a:r>
            <a:r>
              <a:rPr dirty="0" sz="1800" spc="-20"/>
              <a:t> </a:t>
            </a:r>
            <a:r>
              <a:rPr dirty="0" sz="1800"/>
              <a:t>bank</a:t>
            </a:r>
            <a:r>
              <a:rPr dirty="0" sz="1800" spc="-25"/>
              <a:t> </a:t>
            </a:r>
            <a:r>
              <a:rPr dirty="0" sz="1800" spc="-10"/>
              <a:t>server.</a:t>
            </a:r>
            <a:endParaRPr sz="1800"/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1800"/>
              <a:t>•The</a:t>
            </a:r>
            <a:r>
              <a:rPr dirty="0" sz="1800" spc="-25"/>
              <a:t> </a:t>
            </a:r>
            <a:r>
              <a:rPr dirty="0" sz="1800"/>
              <a:t>server</a:t>
            </a:r>
            <a:r>
              <a:rPr dirty="0" sz="1800" spc="-15"/>
              <a:t> </a:t>
            </a:r>
            <a:r>
              <a:rPr dirty="0" sz="1800"/>
              <a:t>checks</a:t>
            </a:r>
            <a:r>
              <a:rPr dirty="0" sz="1800" spc="-15"/>
              <a:t> </a:t>
            </a:r>
            <a:r>
              <a:rPr dirty="0" sz="1800"/>
              <a:t>the</a:t>
            </a:r>
            <a:r>
              <a:rPr dirty="0" sz="1800" spc="-15"/>
              <a:t> </a:t>
            </a:r>
            <a:r>
              <a:rPr dirty="0" sz="1800"/>
              <a:t>account</a:t>
            </a:r>
            <a:r>
              <a:rPr dirty="0" sz="1800" spc="-15"/>
              <a:t> </a:t>
            </a:r>
            <a:r>
              <a:rPr dirty="0" sz="1800"/>
              <a:t>and</a:t>
            </a:r>
            <a:r>
              <a:rPr dirty="0" sz="1800" spc="-15"/>
              <a:t> </a:t>
            </a:r>
            <a:r>
              <a:rPr dirty="0" sz="1800"/>
              <a:t>processes</a:t>
            </a:r>
            <a:r>
              <a:rPr dirty="0" sz="1800" spc="-15"/>
              <a:t> </a:t>
            </a:r>
            <a:r>
              <a:rPr dirty="0" sz="1800"/>
              <a:t>the</a:t>
            </a:r>
            <a:r>
              <a:rPr dirty="0" sz="1800" spc="-10"/>
              <a:t> request.</a:t>
            </a:r>
            <a:endParaRPr sz="1800"/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1800"/>
              <a:t>•The</a:t>
            </a:r>
            <a:r>
              <a:rPr dirty="0" sz="1800" spc="-20"/>
              <a:t> </a:t>
            </a:r>
            <a:r>
              <a:rPr dirty="0" sz="1800"/>
              <a:t>server</a:t>
            </a:r>
            <a:r>
              <a:rPr dirty="0" sz="1800" spc="-15"/>
              <a:t> </a:t>
            </a:r>
            <a:r>
              <a:rPr dirty="0" sz="1800"/>
              <a:t>sends</a:t>
            </a:r>
            <a:r>
              <a:rPr dirty="0" sz="1800" spc="-15"/>
              <a:t> </a:t>
            </a:r>
            <a:r>
              <a:rPr dirty="0" sz="1800"/>
              <a:t>approval</a:t>
            </a:r>
            <a:r>
              <a:rPr dirty="0" sz="1800" spc="-15"/>
              <a:t> </a:t>
            </a:r>
            <a:r>
              <a:rPr dirty="0" sz="1800"/>
              <a:t>or</a:t>
            </a:r>
            <a:r>
              <a:rPr dirty="0" sz="1800" spc="-15"/>
              <a:t> </a:t>
            </a:r>
            <a:r>
              <a:rPr dirty="0" sz="1800"/>
              <a:t>denial</a:t>
            </a:r>
            <a:r>
              <a:rPr dirty="0" sz="1800" spc="-15"/>
              <a:t> </a:t>
            </a:r>
            <a:r>
              <a:rPr dirty="0" sz="1800"/>
              <a:t>back</a:t>
            </a:r>
            <a:r>
              <a:rPr dirty="0" sz="1800" spc="-15"/>
              <a:t> </a:t>
            </a:r>
            <a:r>
              <a:rPr dirty="0" sz="1800"/>
              <a:t>to</a:t>
            </a:r>
            <a:r>
              <a:rPr dirty="0" sz="1800" spc="-15"/>
              <a:t> </a:t>
            </a:r>
            <a:r>
              <a:rPr dirty="0" sz="1800"/>
              <a:t>the</a:t>
            </a:r>
            <a:r>
              <a:rPr dirty="0" sz="1800" spc="-110"/>
              <a:t> </a:t>
            </a:r>
            <a:r>
              <a:rPr dirty="0" sz="1800" spc="-20"/>
              <a:t>ATM.</a:t>
            </a:r>
            <a:endParaRPr sz="1800"/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1800"/>
              <a:t>•The</a:t>
            </a:r>
            <a:r>
              <a:rPr dirty="0" sz="1800" spc="-25"/>
              <a:t> </a:t>
            </a:r>
            <a:r>
              <a:rPr dirty="0" sz="1800"/>
              <a:t>project</a:t>
            </a:r>
            <a:r>
              <a:rPr dirty="0" sz="1800" spc="-20"/>
              <a:t> </a:t>
            </a:r>
            <a:r>
              <a:rPr dirty="0" sz="1800"/>
              <a:t>demonstrates</a:t>
            </a:r>
            <a:r>
              <a:rPr dirty="0" sz="1800" spc="-25"/>
              <a:t> </a:t>
            </a:r>
            <a:r>
              <a:rPr dirty="0" sz="1800"/>
              <a:t>this</a:t>
            </a:r>
            <a:r>
              <a:rPr dirty="0" sz="1800" spc="-20"/>
              <a:t> </a:t>
            </a:r>
            <a:r>
              <a:rPr dirty="0" sz="1800"/>
              <a:t>process</a:t>
            </a:r>
            <a:r>
              <a:rPr dirty="0" sz="1800" spc="-25"/>
              <a:t> </a:t>
            </a:r>
            <a:r>
              <a:rPr dirty="0" sz="1800"/>
              <a:t>using</a:t>
            </a:r>
            <a:r>
              <a:rPr dirty="0" sz="1800" spc="-20"/>
              <a:t> </a:t>
            </a:r>
            <a:r>
              <a:rPr dirty="0" sz="1800"/>
              <a:t>networking</a:t>
            </a:r>
            <a:r>
              <a:rPr dirty="0" sz="1800" spc="-25"/>
              <a:t> </a:t>
            </a:r>
            <a:r>
              <a:rPr dirty="0" sz="1800"/>
              <a:t>and</a:t>
            </a:r>
            <a:r>
              <a:rPr dirty="0" sz="1800" spc="-20"/>
              <a:t> </a:t>
            </a:r>
            <a:r>
              <a:rPr dirty="0" sz="1800"/>
              <a:t>software</a:t>
            </a:r>
            <a:r>
              <a:rPr dirty="0" sz="1800" spc="-20"/>
              <a:t> </a:t>
            </a:r>
            <a:r>
              <a:rPr dirty="0" sz="1800" spc="-10"/>
              <a:t>tools.</a:t>
            </a:r>
            <a:endParaRPr sz="1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89" y="67087"/>
            <a:ext cx="785469" cy="8667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3054" y="0"/>
            <a:ext cx="950945" cy="10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989" rIns="0" bIns="0" rtlCol="0" vert="horz">
            <a:spAutoFit/>
          </a:bodyPr>
          <a:lstStyle/>
          <a:p>
            <a:pPr marL="1700530">
              <a:lnSpc>
                <a:spcPct val="100000"/>
              </a:lnSpc>
              <a:spcBef>
                <a:spcPts val="120"/>
              </a:spcBef>
            </a:pPr>
            <a:r>
              <a:rPr dirty="0"/>
              <a:t>MODULE</a:t>
            </a:r>
            <a:r>
              <a:rPr dirty="0" spc="-35"/>
              <a:t> </a:t>
            </a:r>
            <a:r>
              <a:rPr dirty="0" spc="-1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14" y="89475"/>
            <a:ext cx="785469" cy="8667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27725" y="0"/>
            <a:ext cx="7816850" cy="4918710"/>
            <a:chOff x="1327725" y="0"/>
            <a:chExt cx="7816850" cy="49187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68921" y="0"/>
              <a:ext cx="875078" cy="9425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7725" y="942525"/>
              <a:ext cx="6973451" cy="39758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98925" y="193548"/>
            <a:ext cx="6288405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MODULE</a:t>
            </a:r>
            <a:r>
              <a:rPr dirty="0" spc="-60"/>
              <a:t> </a:t>
            </a:r>
            <a:r>
              <a:rPr dirty="0"/>
              <a:t>1</a:t>
            </a:r>
            <a:r>
              <a:rPr dirty="0" spc="-50"/>
              <a:t> </a:t>
            </a:r>
            <a:r>
              <a:rPr dirty="0"/>
              <a:t>-</a:t>
            </a:r>
            <a:r>
              <a:rPr dirty="0" spc="-175"/>
              <a:t> </a:t>
            </a:r>
            <a:r>
              <a:rPr dirty="0"/>
              <a:t>ATM</a:t>
            </a:r>
            <a:r>
              <a:rPr dirty="0" spc="-55"/>
              <a:t> </a:t>
            </a:r>
            <a:r>
              <a:rPr dirty="0"/>
              <a:t>Network</a:t>
            </a:r>
            <a:r>
              <a:rPr dirty="0" spc="-95"/>
              <a:t> </a:t>
            </a:r>
            <a:r>
              <a:rPr dirty="0" spc="-10"/>
              <a:t>Topology</a:t>
            </a:r>
            <a:r>
              <a:rPr dirty="0" spc="-50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871096"/>
            <a:ext cx="5795645" cy="3946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latin typeface="Arial"/>
                <a:cs typeface="Arial"/>
              </a:rPr>
              <a:t>Purpose</a:t>
            </a:r>
            <a:endParaRPr sz="13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44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Demonstrates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 b="1">
                <a:latin typeface="Arial"/>
                <a:cs typeface="Arial"/>
              </a:rPr>
              <a:t>physical/network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connection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0">
                <a:latin typeface="Arial MT"/>
                <a:cs typeface="Arial MT"/>
              </a:rPr>
              <a:t>between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ATMs</a:t>
            </a:r>
            <a:r>
              <a:rPr dirty="0" sz="1100">
                <a:latin typeface="Arial MT"/>
                <a:cs typeface="Arial MT"/>
              </a:rPr>
              <a:t> 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 bank </a:t>
            </a:r>
            <a:r>
              <a:rPr dirty="0" sz="1100" spc="-10">
                <a:latin typeface="Arial MT"/>
                <a:cs typeface="Arial MT"/>
              </a:rPr>
              <a:t>server.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latin typeface="Arial"/>
                <a:cs typeface="Arial"/>
              </a:rPr>
              <a:t>Implementation</a:t>
            </a:r>
            <a:endParaRPr sz="13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4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Created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topology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using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Cisco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Packet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Tracer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Added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3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ATM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machines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Added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router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network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communication.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Added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central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bank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server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Configured </a:t>
            </a:r>
            <a:r>
              <a:rPr dirty="0" sz="1100">
                <a:latin typeface="Arial MT"/>
                <a:cs typeface="Arial MT"/>
              </a:rPr>
              <a:t>IP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addresses.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dirty="0" sz="1100" spc="-20">
                <a:latin typeface="Arial MT"/>
                <a:cs typeface="Arial MT"/>
              </a:rPr>
              <a:t>Tested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connectivity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using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20" b="1">
                <a:latin typeface="Arial"/>
                <a:cs typeface="Arial"/>
              </a:rPr>
              <a:t>ping</a:t>
            </a:r>
            <a:r>
              <a:rPr dirty="0" sz="1100" spc="-2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127635">
              <a:lnSpc>
                <a:spcPct val="100000"/>
              </a:lnSpc>
            </a:pPr>
            <a:r>
              <a:rPr dirty="0" sz="1300" spc="-20" b="1">
                <a:latin typeface="Arial"/>
                <a:cs typeface="Arial"/>
              </a:rPr>
              <a:t>Flow</a:t>
            </a:r>
            <a:endParaRPr sz="1300">
              <a:latin typeface="Arial"/>
              <a:cs typeface="Arial"/>
            </a:endParaRPr>
          </a:p>
          <a:p>
            <a:pPr marL="127635">
              <a:lnSpc>
                <a:spcPct val="100000"/>
              </a:lnSpc>
              <a:spcBef>
                <a:spcPts val="1445"/>
              </a:spcBef>
            </a:pPr>
            <a:r>
              <a:rPr dirty="0" sz="1100" spc="-20" b="1">
                <a:latin typeface="Arial"/>
                <a:cs typeface="Arial"/>
              </a:rPr>
              <a:t>ATM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→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Router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→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Bank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Server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Arial"/>
              <a:cs typeface="Arial"/>
            </a:endParaRPr>
          </a:p>
          <a:p>
            <a:pPr marL="127635">
              <a:lnSpc>
                <a:spcPct val="100000"/>
              </a:lnSpc>
            </a:pPr>
            <a:r>
              <a:rPr dirty="0" sz="1300" spc="-10" b="1">
                <a:latin typeface="Arial"/>
                <a:cs typeface="Arial"/>
              </a:rPr>
              <a:t>Result</a:t>
            </a:r>
            <a:endParaRPr sz="1300">
              <a:latin typeface="Arial"/>
              <a:cs typeface="Arial"/>
            </a:endParaRPr>
          </a:p>
          <a:p>
            <a:pPr lvl="1" marL="584835" indent="-312420">
              <a:lnSpc>
                <a:spcPct val="100000"/>
              </a:lnSpc>
              <a:spcBef>
                <a:spcPts val="1440"/>
              </a:spcBef>
              <a:buChar char="●"/>
              <a:tabLst>
                <a:tab pos="584835" algn="l"/>
              </a:tabLst>
            </a:pPr>
            <a:r>
              <a:rPr dirty="0" sz="1100">
                <a:latin typeface="Arial MT"/>
                <a:cs typeface="Arial MT"/>
              </a:rPr>
              <a:t>All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three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ATMs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communicate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central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bank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server.</a:t>
            </a:r>
            <a:endParaRPr sz="1100">
              <a:latin typeface="Arial MT"/>
              <a:cs typeface="Arial MT"/>
            </a:endParaRPr>
          </a:p>
          <a:p>
            <a:pPr lvl="1" marL="58483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584835" algn="l"/>
              </a:tabLst>
            </a:pPr>
            <a:r>
              <a:rPr dirty="0" sz="1100">
                <a:latin typeface="Arial MT"/>
                <a:cs typeface="Arial MT"/>
              </a:rPr>
              <a:t>Demonstrates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IP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addressing,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routing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WAN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communication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0" y="34687"/>
            <a:ext cx="697774" cy="7699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732" y="0"/>
            <a:ext cx="845266" cy="9236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9139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dirty="0"/>
              <a:t>MODULE</a:t>
            </a:r>
            <a:r>
              <a:rPr dirty="0" spc="-55"/>
              <a:t> </a:t>
            </a:r>
            <a:r>
              <a:rPr dirty="0" spc="-10"/>
              <a:t>2-</a:t>
            </a:r>
            <a:r>
              <a:rPr dirty="0"/>
              <a:t>Transaction</a:t>
            </a:r>
            <a:r>
              <a:rPr dirty="0" spc="-50"/>
              <a:t> </a:t>
            </a:r>
            <a:r>
              <a:rPr dirty="0" spc="-10"/>
              <a:t>Request-</a:t>
            </a:r>
            <a:r>
              <a:rPr dirty="0"/>
              <a:t>Response</a:t>
            </a:r>
            <a:r>
              <a:rPr dirty="0" spc="-50"/>
              <a:t> </a:t>
            </a:r>
            <a:r>
              <a:rPr dirty="0" spc="-1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424" y="1210971"/>
            <a:ext cx="5193665" cy="3760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latin typeface="Arial"/>
                <a:cs typeface="Arial"/>
              </a:rPr>
              <a:t>Purpose</a:t>
            </a:r>
            <a:endParaRPr sz="1300">
              <a:latin typeface="Arial"/>
              <a:cs typeface="Arial"/>
            </a:endParaRPr>
          </a:p>
          <a:p>
            <a:pPr marL="610870" indent="-313055">
              <a:lnSpc>
                <a:spcPct val="100000"/>
              </a:lnSpc>
              <a:spcBef>
                <a:spcPts val="1140"/>
              </a:spcBef>
              <a:buChar char="●"/>
              <a:tabLst>
                <a:tab pos="610870" algn="l"/>
              </a:tabLst>
            </a:pPr>
            <a:r>
              <a:rPr dirty="0" sz="1100">
                <a:latin typeface="Arial MT"/>
                <a:cs typeface="Arial MT"/>
              </a:rPr>
              <a:t>Demonstrates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how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ATM </a:t>
            </a:r>
            <a:r>
              <a:rPr dirty="0" sz="1100">
                <a:latin typeface="Arial MT"/>
                <a:cs typeface="Arial MT"/>
              </a:rPr>
              <a:t>sends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transaction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requests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bank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server.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153670">
              <a:lnSpc>
                <a:spcPct val="100000"/>
              </a:lnSpc>
            </a:pPr>
            <a:r>
              <a:rPr dirty="0" sz="1300" spc="-10" b="1">
                <a:latin typeface="Arial"/>
                <a:cs typeface="Arial"/>
              </a:rPr>
              <a:t>Implementation</a:t>
            </a:r>
            <a:endParaRPr sz="1300">
              <a:latin typeface="Arial"/>
              <a:cs typeface="Arial"/>
            </a:endParaRPr>
          </a:p>
          <a:p>
            <a:pPr marL="610870" indent="-313055">
              <a:lnSpc>
                <a:spcPts val="1285"/>
              </a:lnSpc>
              <a:spcBef>
                <a:spcPts val="1140"/>
              </a:spcBef>
              <a:buChar char="●"/>
              <a:tabLst>
                <a:tab pos="610870" algn="l"/>
              </a:tabLst>
            </a:pPr>
            <a:r>
              <a:rPr dirty="0" sz="1100" spc="-20">
                <a:latin typeface="Arial MT"/>
                <a:cs typeface="Arial MT"/>
              </a:rPr>
              <a:t>ATM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works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 b="1">
                <a:latin typeface="Arial"/>
                <a:cs typeface="Arial"/>
              </a:rPr>
              <a:t>client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610870" indent="-313055">
              <a:lnSpc>
                <a:spcPts val="1255"/>
              </a:lnSpc>
              <a:buChar char="●"/>
              <a:tabLst>
                <a:tab pos="610870" algn="l"/>
              </a:tabLst>
            </a:pPr>
            <a:r>
              <a:rPr dirty="0" sz="1100">
                <a:latin typeface="Arial MT"/>
                <a:cs typeface="Arial MT"/>
              </a:rPr>
              <a:t>Bank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server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works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 b="1">
                <a:latin typeface="Arial"/>
                <a:cs typeface="Arial"/>
              </a:rPr>
              <a:t>server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610870" indent="-313055">
              <a:lnSpc>
                <a:spcPts val="1255"/>
              </a:lnSpc>
              <a:buChar char="●"/>
              <a:tabLst>
                <a:tab pos="610870" algn="l"/>
              </a:tabLst>
            </a:pPr>
            <a:r>
              <a:rPr dirty="0" sz="1100" spc="-10">
                <a:latin typeface="Arial MT"/>
                <a:cs typeface="Arial MT"/>
              </a:rPr>
              <a:t>Communication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TCP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socket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programming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610870" indent="-313055">
              <a:lnSpc>
                <a:spcPts val="1255"/>
              </a:lnSpc>
              <a:buChar char="●"/>
              <a:tabLst>
                <a:tab pos="610870" algn="l"/>
              </a:tabLst>
            </a:pPr>
            <a:r>
              <a:rPr dirty="0" sz="1100">
                <a:latin typeface="Arial MT"/>
                <a:cs typeface="Arial MT"/>
              </a:rPr>
              <a:t>Server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receives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requests.</a:t>
            </a:r>
            <a:endParaRPr sz="1100">
              <a:latin typeface="Arial MT"/>
              <a:cs typeface="Arial MT"/>
            </a:endParaRPr>
          </a:p>
          <a:p>
            <a:pPr marL="610870" indent="-313055">
              <a:lnSpc>
                <a:spcPts val="1285"/>
              </a:lnSpc>
              <a:buChar char="●"/>
              <a:tabLst>
                <a:tab pos="610870" algn="l"/>
              </a:tabLst>
            </a:pPr>
            <a:r>
              <a:rPr dirty="0" sz="1100">
                <a:latin typeface="Arial MT"/>
                <a:cs typeface="Arial MT"/>
              </a:rPr>
              <a:t>Server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sends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response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7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ATM.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10" b="1">
                <a:latin typeface="Arial"/>
                <a:cs typeface="Arial"/>
              </a:rPr>
              <a:t>Transactions</a:t>
            </a:r>
            <a:endParaRPr sz="13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44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100" b="1">
                <a:latin typeface="Arial"/>
                <a:cs typeface="Arial"/>
              </a:rPr>
              <a:t>Check</a:t>
            </a:r>
            <a:r>
              <a:rPr dirty="0" sz="1100" spc="-6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Balance</a:t>
            </a:r>
            <a:endParaRPr sz="1100">
              <a:latin typeface="Arial"/>
              <a:cs typeface="Arial"/>
            </a:endParaRPr>
          </a:p>
          <a:p>
            <a:pPr lvl="1" marL="926465" indent="-312420">
              <a:lnSpc>
                <a:spcPct val="100000"/>
              </a:lnSpc>
              <a:spcBef>
                <a:spcPts val="200"/>
              </a:spcBef>
              <a:buChar char="○"/>
              <a:tabLst>
                <a:tab pos="926465" algn="l"/>
              </a:tabLst>
            </a:pPr>
            <a:r>
              <a:rPr dirty="0" sz="1100" spc="-20">
                <a:latin typeface="Arial MT"/>
                <a:cs typeface="Arial MT"/>
              </a:rPr>
              <a:t>ATM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requests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account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balance.</a:t>
            </a:r>
            <a:endParaRPr sz="1100">
              <a:latin typeface="Arial MT"/>
              <a:cs typeface="Arial MT"/>
            </a:endParaRPr>
          </a:p>
          <a:p>
            <a:pPr lvl="1" marL="926465" indent="-312420">
              <a:lnSpc>
                <a:spcPct val="100000"/>
              </a:lnSpc>
              <a:spcBef>
                <a:spcPts val="195"/>
              </a:spcBef>
              <a:buChar char="○"/>
              <a:tabLst>
                <a:tab pos="926465" algn="l"/>
              </a:tabLst>
            </a:pPr>
            <a:r>
              <a:rPr dirty="0" sz="1100">
                <a:latin typeface="Arial MT"/>
                <a:cs typeface="Arial MT"/>
              </a:rPr>
              <a:t>Server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returns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available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balance.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100" spc="-10" b="1">
                <a:latin typeface="Arial"/>
                <a:cs typeface="Arial"/>
              </a:rPr>
              <a:t>Withdraw</a:t>
            </a:r>
            <a:endParaRPr sz="1100">
              <a:latin typeface="Arial"/>
              <a:cs typeface="Arial"/>
            </a:endParaRPr>
          </a:p>
          <a:p>
            <a:pPr lvl="1" marL="926465" indent="-312420">
              <a:lnSpc>
                <a:spcPct val="100000"/>
              </a:lnSpc>
              <a:spcBef>
                <a:spcPts val="195"/>
              </a:spcBef>
              <a:buChar char="○"/>
              <a:tabLst>
                <a:tab pos="926465" algn="l"/>
              </a:tabLst>
            </a:pPr>
            <a:r>
              <a:rPr dirty="0" sz="1100" spc="-20">
                <a:latin typeface="Arial MT"/>
                <a:cs typeface="Arial MT"/>
              </a:rPr>
              <a:t>ATM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sends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withdrawal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amount.</a:t>
            </a:r>
            <a:endParaRPr sz="1100">
              <a:latin typeface="Arial MT"/>
              <a:cs typeface="Arial MT"/>
            </a:endParaRPr>
          </a:p>
          <a:p>
            <a:pPr lvl="1" marL="926465" indent="-312420">
              <a:lnSpc>
                <a:spcPct val="100000"/>
              </a:lnSpc>
              <a:spcBef>
                <a:spcPts val="200"/>
              </a:spcBef>
              <a:buChar char="○"/>
              <a:tabLst>
                <a:tab pos="926465" algn="l"/>
              </a:tabLst>
            </a:pPr>
            <a:r>
              <a:rPr dirty="0" sz="1100">
                <a:latin typeface="Arial MT"/>
                <a:cs typeface="Arial MT"/>
              </a:rPr>
              <a:t>Server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checks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available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balance.</a:t>
            </a:r>
            <a:endParaRPr sz="1100">
              <a:latin typeface="Arial MT"/>
              <a:cs typeface="Arial MT"/>
            </a:endParaRPr>
          </a:p>
          <a:p>
            <a:pPr lvl="1" marL="926465" indent="-312420">
              <a:lnSpc>
                <a:spcPct val="100000"/>
              </a:lnSpc>
              <a:spcBef>
                <a:spcPts val="200"/>
              </a:spcBef>
              <a:buChar char="○"/>
              <a:tabLst>
                <a:tab pos="926465" algn="l"/>
              </a:tabLst>
            </a:pPr>
            <a:r>
              <a:rPr dirty="0" sz="1100" spc="-10">
                <a:latin typeface="Arial MT"/>
                <a:cs typeface="Arial MT"/>
              </a:rPr>
              <a:t>Transaction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 b="1">
                <a:latin typeface="Arial"/>
                <a:cs typeface="Arial"/>
              </a:rPr>
              <a:t>approved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or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denied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68200" cy="7373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6493" y="0"/>
            <a:ext cx="737506" cy="8058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525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1075"/>
              </a:spcBef>
            </a:pPr>
            <a:r>
              <a:rPr dirty="0"/>
              <a:t>MODULE</a:t>
            </a:r>
            <a:r>
              <a:rPr dirty="0" spc="15"/>
              <a:t> </a:t>
            </a:r>
            <a:r>
              <a:rPr dirty="0"/>
              <a:t>3</a:t>
            </a:r>
            <a:r>
              <a:rPr dirty="0" spc="20"/>
              <a:t> </a:t>
            </a:r>
            <a:r>
              <a:rPr dirty="0"/>
              <a:t>-Security</a:t>
            </a:r>
            <a:r>
              <a:rPr dirty="0" spc="20"/>
              <a:t> </a:t>
            </a:r>
            <a:r>
              <a:rPr dirty="0"/>
              <a:t>Gap</a:t>
            </a:r>
            <a:r>
              <a:rPr dirty="0" spc="-120"/>
              <a:t> </a:t>
            </a:r>
            <a:r>
              <a:rPr dirty="0"/>
              <a:t>Analysis</a:t>
            </a:r>
            <a:r>
              <a:rPr dirty="0" spc="20"/>
              <a:t> </a:t>
            </a:r>
            <a:r>
              <a:rPr dirty="0"/>
              <a:t>Using</a:t>
            </a:r>
            <a:r>
              <a:rPr dirty="0" spc="20"/>
              <a:t> </a:t>
            </a:r>
            <a:r>
              <a:rPr dirty="0" spc="-10"/>
              <a:t>Wireshark</a:t>
            </a: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300" spc="-10" b="1">
                <a:latin typeface="Arial"/>
                <a:cs typeface="Arial"/>
              </a:rPr>
              <a:t>Purpose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4775" y="1146250"/>
            <a:ext cx="4297680" cy="38119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31242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Checks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whether</a:t>
            </a:r>
            <a:r>
              <a:rPr dirty="0" sz="1100" spc="-7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ATM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transaction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securely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transmitted.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latin typeface="Arial"/>
                <a:cs typeface="Arial"/>
              </a:rPr>
              <a:t>Implementation</a:t>
            </a:r>
            <a:endParaRPr sz="13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440"/>
              </a:spcBef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Captured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ATM-</a:t>
            </a:r>
            <a:r>
              <a:rPr dirty="0" sz="1100">
                <a:latin typeface="Arial MT"/>
                <a:cs typeface="Arial MT"/>
              </a:rPr>
              <a:t>server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traffic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using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 b="1">
                <a:latin typeface="Arial"/>
                <a:cs typeface="Arial"/>
              </a:rPr>
              <a:t>Wireshark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Applied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TCP/port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filters.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Used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Follow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TCP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Stream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Inspected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packet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payload.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Checked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whether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transaction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information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visible.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300" spc="-10" b="1">
                <a:latin typeface="Arial"/>
                <a:cs typeface="Arial"/>
              </a:rPr>
              <a:t>Security</a:t>
            </a:r>
            <a:r>
              <a:rPr dirty="0" sz="1300" spc="-1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Issue</a:t>
            </a:r>
            <a:endParaRPr sz="13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44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Plain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TCP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communication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expose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application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Sensitive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information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visible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captured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packets.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creates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confidentiality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risk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latin typeface="Arial"/>
                <a:cs typeface="Arial"/>
              </a:rPr>
              <a:t>Solution</a:t>
            </a:r>
            <a:endParaRPr sz="13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4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Use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TLS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encryption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Encrypt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communication </a:t>
            </a:r>
            <a:r>
              <a:rPr dirty="0" sz="1100" spc="-20">
                <a:latin typeface="Arial MT"/>
                <a:cs typeface="Arial MT"/>
              </a:rPr>
              <a:t>between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ATM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bank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server.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Prevent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attackers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easily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reading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captured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72" y="70549"/>
            <a:ext cx="575556" cy="6350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9814" y="0"/>
            <a:ext cx="639309" cy="6985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90925" y="202673"/>
            <a:ext cx="1477010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1418"/>
            <a:ext cx="4034790" cy="28962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110"/>
              </a:spcBef>
            </a:pPr>
            <a:r>
              <a:rPr dirty="0" sz="1250" spc="-10">
                <a:latin typeface="Arial MT"/>
                <a:cs typeface="Arial MT"/>
              </a:rPr>
              <a:t>•Three</a:t>
            </a:r>
            <a:r>
              <a:rPr dirty="0" sz="1250" spc="-8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ATMs</a:t>
            </a:r>
            <a:r>
              <a:rPr dirty="0" sz="1250" spc="-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successfully</a:t>
            </a:r>
            <a:r>
              <a:rPr dirty="0" sz="1250" spc="-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connected</a:t>
            </a:r>
            <a:r>
              <a:rPr dirty="0" sz="1250" spc="-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to</a:t>
            </a:r>
            <a:r>
              <a:rPr dirty="0" sz="1250" spc="-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the</a:t>
            </a:r>
            <a:r>
              <a:rPr dirty="0" sz="1250" spc="-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bank</a:t>
            </a:r>
            <a:r>
              <a:rPr dirty="0" sz="1250" spc="-1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server.</a:t>
            </a:r>
            <a:endParaRPr sz="1250">
              <a:latin typeface="Arial MT"/>
              <a:cs typeface="Arial MT"/>
            </a:endParaRPr>
          </a:p>
          <a:p>
            <a:pPr marL="56515">
              <a:lnSpc>
                <a:spcPct val="100000"/>
              </a:lnSpc>
              <a:spcBef>
                <a:spcPts val="1135"/>
              </a:spcBef>
            </a:pPr>
            <a:r>
              <a:rPr dirty="0" sz="1250">
                <a:latin typeface="Arial MT"/>
                <a:cs typeface="Arial MT"/>
              </a:rPr>
              <a:t>•Router</a:t>
            </a:r>
            <a:r>
              <a:rPr dirty="0" sz="1250" spc="-4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provided</a:t>
            </a:r>
            <a:r>
              <a:rPr dirty="0" sz="1250" spc="-3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communication</a:t>
            </a:r>
            <a:r>
              <a:rPr dirty="0" sz="1250" spc="-3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between</a:t>
            </a:r>
            <a:r>
              <a:rPr dirty="0" sz="1250" spc="-3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networks.</a:t>
            </a:r>
            <a:endParaRPr sz="1250">
              <a:latin typeface="Arial MT"/>
              <a:cs typeface="Arial MT"/>
            </a:endParaRPr>
          </a:p>
          <a:p>
            <a:pPr marL="56515">
              <a:lnSpc>
                <a:spcPct val="100000"/>
              </a:lnSpc>
              <a:spcBef>
                <a:spcPts val="1135"/>
              </a:spcBef>
            </a:pPr>
            <a:r>
              <a:rPr dirty="0" sz="1250">
                <a:latin typeface="Arial MT"/>
                <a:cs typeface="Arial MT"/>
              </a:rPr>
              <a:t>•ATM</a:t>
            </a:r>
            <a:r>
              <a:rPr dirty="0" sz="1250" spc="-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transaction</a:t>
            </a:r>
            <a:r>
              <a:rPr dirty="0" sz="1250" spc="-3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requests</a:t>
            </a:r>
            <a:r>
              <a:rPr dirty="0" sz="1250" spc="-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were</a:t>
            </a:r>
            <a:r>
              <a:rPr dirty="0" sz="1250" spc="-3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processed.</a:t>
            </a:r>
            <a:endParaRPr sz="1250">
              <a:latin typeface="Arial MT"/>
              <a:cs typeface="Arial MT"/>
            </a:endParaRPr>
          </a:p>
          <a:p>
            <a:pPr marL="56515">
              <a:lnSpc>
                <a:spcPct val="100000"/>
              </a:lnSpc>
              <a:spcBef>
                <a:spcPts val="1140"/>
              </a:spcBef>
            </a:pPr>
            <a:r>
              <a:rPr dirty="0" sz="1250">
                <a:latin typeface="Arial MT"/>
                <a:cs typeface="Arial MT"/>
              </a:rPr>
              <a:t>•Balance</a:t>
            </a:r>
            <a:r>
              <a:rPr dirty="0" sz="1250" spc="-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enquiry</a:t>
            </a:r>
            <a:r>
              <a:rPr dirty="0" sz="1250" spc="-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was</a:t>
            </a:r>
            <a:r>
              <a:rPr dirty="0" sz="1250" spc="-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successfully</a:t>
            </a:r>
            <a:r>
              <a:rPr dirty="0" sz="1250" spc="-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simulated.</a:t>
            </a:r>
            <a:endParaRPr sz="1250">
              <a:latin typeface="Arial MT"/>
              <a:cs typeface="Arial MT"/>
            </a:endParaRPr>
          </a:p>
          <a:p>
            <a:pPr marL="56515">
              <a:lnSpc>
                <a:spcPct val="100000"/>
              </a:lnSpc>
              <a:spcBef>
                <a:spcPts val="1135"/>
              </a:spcBef>
            </a:pPr>
            <a:r>
              <a:rPr dirty="0" sz="1250">
                <a:latin typeface="Arial MT"/>
                <a:cs typeface="Arial MT"/>
              </a:rPr>
              <a:t>•Withdrawal</a:t>
            </a:r>
            <a:r>
              <a:rPr dirty="0" sz="1250" spc="-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approval/denial</a:t>
            </a:r>
            <a:r>
              <a:rPr dirty="0" sz="1250" spc="-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was</a:t>
            </a:r>
            <a:r>
              <a:rPr dirty="0" sz="1250" spc="-4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demonstrated.</a:t>
            </a:r>
            <a:endParaRPr sz="1250">
              <a:latin typeface="Arial MT"/>
              <a:cs typeface="Arial MT"/>
            </a:endParaRPr>
          </a:p>
          <a:p>
            <a:pPr marL="56515">
              <a:lnSpc>
                <a:spcPct val="100000"/>
              </a:lnSpc>
              <a:spcBef>
                <a:spcPts val="1135"/>
              </a:spcBef>
            </a:pPr>
            <a:r>
              <a:rPr dirty="0" sz="1250">
                <a:latin typeface="Arial MT"/>
                <a:cs typeface="Arial MT"/>
              </a:rPr>
              <a:t>•Web</a:t>
            </a:r>
            <a:r>
              <a:rPr dirty="0" sz="1250" spc="-3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application</a:t>
            </a:r>
            <a:r>
              <a:rPr dirty="0" sz="1250" spc="-3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provided</a:t>
            </a:r>
            <a:r>
              <a:rPr dirty="0" sz="1250" spc="-3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an</a:t>
            </a:r>
            <a:r>
              <a:rPr dirty="0" sz="1250" spc="-3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interactive</a:t>
            </a:r>
            <a:r>
              <a:rPr dirty="0" sz="1250" spc="-3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demonstration.</a:t>
            </a:r>
            <a:endParaRPr sz="1250">
              <a:latin typeface="Arial MT"/>
              <a:cs typeface="Arial MT"/>
            </a:endParaRPr>
          </a:p>
          <a:p>
            <a:pPr marL="56515">
              <a:lnSpc>
                <a:spcPct val="100000"/>
              </a:lnSpc>
              <a:spcBef>
                <a:spcPts val="1135"/>
              </a:spcBef>
            </a:pPr>
            <a:r>
              <a:rPr dirty="0" sz="1250">
                <a:latin typeface="Arial MT"/>
                <a:cs typeface="Arial MT"/>
              </a:rPr>
              <a:t>•Wireshark</a:t>
            </a:r>
            <a:r>
              <a:rPr dirty="0" sz="1250" spc="-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successfully</a:t>
            </a:r>
            <a:r>
              <a:rPr dirty="0" sz="1250" spc="-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captured</a:t>
            </a:r>
            <a:r>
              <a:rPr dirty="0" sz="1250" spc="-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network</a:t>
            </a:r>
            <a:r>
              <a:rPr dirty="0" sz="1250" spc="-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traffic.</a:t>
            </a:r>
            <a:endParaRPr sz="1250">
              <a:latin typeface="Arial MT"/>
              <a:cs typeface="Arial MT"/>
            </a:endParaRPr>
          </a:p>
          <a:p>
            <a:pPr marL="56515">
              <a:lnSpc>
                <a:spcPct val="100000"/>
              </a:lnSpc>
              <a:spcBef>
                <a:spcPts val="1140"/>
              </a:spcBef>
            </a:pPr>
            <a:r>
              <a:rPr dirty="0" sz="1250">
                <a:latin typeface="Arial MT"/>
                <a:cs typeface="Arial MT"/>
              </a:rPr>
              <a:t>•Plaintext</a:t>
            </a:r>
            <a:r>
              <a:rPr dirty="0" sz="1250" spc="-2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communication</a:t>
            </a:r>
            <a:r>
              <a:rPr dirty="0" sz="1250" spc="-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security</a:t>
            </a:r>
            <a:r>
              <a:rPr dirty="0" sz="1250" spc="-2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risk</a:t>
            </a:r>
            <a:r>
              <a:rPr dirty="0" sz="1250" spc="-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was</a:t>
            </a:r>
            <a:r>
              <a:rPr dirty="0" sz="1250" spc="-2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identified.</a:t>
            </a:r>
            <a:endParaRPr sz="1250">
              <a:latin typeface="Arial MT"/>
              <a:cs typeface="Arial MT"/>
            </a:endParaRPr>
          </a:p>
          <a:p>
            <a:pPr marL="109855" indent="-97155">
              <a:lnSpc>
                <a:spcPct val="100000"/>
              </a:lnSpc>
              <a:spcBef>
                <a:spcPts val="1135"/>
              </a:spcBef>
              <a:buChar char="•"/>
              <a:tabLst>
                <a:tab pos="109855" algn="l"/>
              </a:tabLst>
            </a:pPr>
            <a:r>
              <a:rPr dirty="0" sz="1250">
                <a:latin typeface="Arial MT"/>
                <a:cs typeface="Arial MT"/>
              </a:rPr>
              <a:t>TLS</a:t>
            </a:r>
            <a:r>
              <a:rPr dirty="0" sz="1250" spc="-2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encryption</a:t>
            </a:r>
            <a:r>
              <a:rPr dirty="0" sz="1250" spc="-2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was</a:t>
            </a:r>
            <a:r>
              <a:rPr dirty="0" sz="1250" spc="-1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recommended.</a:t>
            </a:r>
            <a:endParaRPr sz="12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15" y="114975"/>
            <a:ext cx="940225" cy="1037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2916" y="71225"/>
            <a:ext cx="860458" cy="940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679065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•Successfully</a:t>
            </a:r>
            <a:r>
              <a:rPr dirty="0" spc="65"/>
              <a:t> </a:t>
            </a:r>
            <a:r>
              <a:rPr dirty="0"/>
              <a:t>simulated</a:t>
            </a:r>
            <a:r>
              <a:rPr dirty="0" spc="-35"/>
              <a:t> ATM-</a:t>
            </a:r>
            <a:r>
              <a:rPr dirty="0"/>
              <a:t>to-bank</a:t>
            </a:r>
            <a:r>
              <a:rPr dirty="0" spc="70"/>
              <a:t> </a:t>
            </a:r>
            <a:r>
              <a:rPr dirty="0"/>
              <a:t>server</a:t>
            </a:r>
            <a:r>
              <a:rPr dirty="0" spc="70"/>
              <a:t> </a:t>
            </a:r>
            <a:r>
              <a:rPr dirty="0" spc="-10"/>
              <a:t>communication.</a:t>
            </a: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/>
              <a:t>•Demonstrated</a:t>
            </a:r>
            <a:r>
              <a:rPr dirty="0" spc="40"/>
              <a:t> </a:t>
            </a:r>
            <a:r>
              <a:rPr dirty="0"/>
              <a:t>network</a:t>
            </a:r>
            <a:r>
              <a:rPr dirty="0" spc="45"/>
              <a:t> </a:t>
            </a:r>
            <a:r>
              <a:rPr dirty="0"/>
              <a:t>connectivity</a:t>
            </a:r>
            <a:r>
              <a:rPr dirty="0" spc="45"/>
              <a:t> </a:t>
            </a:r>
            <a:r>
              <a:rPr dirty="0"/>
              <a:t>using</a:t>
            </a:r>
            <a:r>
              <a:rPr dirty="0" spc="40"/>
              <a:t> </a:t>
            </a:r>
            <a:r>
              <a:rPr dirty="0"/>
              <a:t>Cisco</a:t>
            </a:r>
            <a:r>
              <a:rPr dirty="0" spc="45"/>
              <a:t> </a:t>
            </a:r>
            <a:r>
              <a:rPr dirty="0"/>
              <a:t>Packet</a:t>
            </a:r>
            <a:r>
              <a:rPr dirty="0" spc="10"/>
              <a:t> </a:t>
            </a:r>
            <a:r>
              <a:rPr dirty="0" spc="-10"/>
              <a:t>Tracer.</a:t>
            </a: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/>
              <a:t>•Implemented</a:t>
            </a:r>
            <a:r>
              <a:rPr dirty="0" spc="60"/>
              <a:t> </a:t>
            </a:r>
            <a:r>
              <a:rPr dirty="0"/>
              <a:t>transactions</a:t>
            </a:r>
            <a:r>
              <a:rPr dirty="0" spc="60"/>
              <a:t> </a:t>
            </a:r>
            <a:r>
              <a:rPr dirty="0"/>
              <a:t>using</a:t>
            </a:r>
            <a:r>
              <a:rPr dirty="0" spc="60"/>
              <a:t> </a:t>
            </a:r>
            <a:r>
              <a:rPr dirty="0"/>
              <a:t>client-server</a:t>
            </a:r>
            <a:r>
              <a:rPr dirty="0" spc="60"/>
              <a:t> </a:t>
            </a:r>
            <a:r>
              <a:rPr dirty="0" spc="-10"/>
              <a:t>communication.</a:t>
            </a: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/>
              <a:t>•Developed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/>
              <a:t>web-based</a:t>
            </a:r>
            <a:r>
              <a:rPr dirty="0" spc="30"/>
              <a:t> </a:t>
            </a:r>
            <a:r>
              <a:rPr dirty="0"/>
              <a:t>working</a:t>
            </a:r>
            <a:r>
              <a:rPr dirty="0" spc="30"/>
              <a:t> </a:t>
            </a:r>
            <a:r>
              <a:rPr dirty="0" spc="-10"/>
              <a:t>model.</a:t>
            </a: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/>
              <a:t>•Analysed</a:t>
            </a:r>
            <a:r>
              <a:rPr dirty="0" spc="15"/>
              <a:t> </a:t>
            </a:r>
            <a:r>
              <a:rPr dirty="0"/>
              <a:t>network</a:t>
            </a:r>
            <a:r>
              <a:rPr dirty="0" spc="15"/>
              <a:t> </a:t>
            </a:r>
            <a:r>
              <a:rPr dirty="0"/>
              <a:t>traffic</a:t>
            </a:r>
            <a:r>
              <a:rPr dirty="0" spc="15"/>
              <a:t> </a:t>
            </a:r>
            <a:r>
              <a:rPr dirty="0"/>
              <a:t>using</a:t>
            </a:r>
            <a:r>
              <a:rPr dirty="0" spc="15"/>
              <a:t> </a:t>
            </a:r>
            <a:r>
              <a:rPr dirty="0" spc="-10"/>
              <a:t>Wireshark.</a:t>
            </a: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/>
              <a:t>•Identified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risk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15"/>
              <a:t> </a:t>
            </a:r>
            <a:r>
              <a:rPr dirty="0"/>
              <a:t>plaintext</a:t>
            </a:r>
            <a:r>
              <a:rPr dirty="0" spc="15"/>
              <a:t> </a:t>
            </a:r>
            <a:r>
              <a:rPr dirty="0" spc="-10"/>
              <a:t>communication.</a:t>
            </a: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/>
              <a:t>•Recommended</a:t>
            </a:r>
            <a:r>
              <a:rPr dirty="0" spc="-20"/>
              <a:t> </a:t>
            </a:r>
            <a:r>
              <a:rPr dirty="0"/>
              <a:t>TLS</a:t>
            </a:r>
            <a:r>
              <a:rPr dirty="0" spc="20"/>
              <a:t> </a:t>
            </a:r>
            <a:r>
              <a:rPr dirty="0"/>
              <a:t>encryption</a:t>
            </a:r>
            <a:r>
              <a:rPr dirty="0" spc="25"/>
              <a:t> </a:t>
            </a:r>
            <a:r>
              <a:rPr dirty="0"/>
              <a:t>for</a:t>
            </a:r>
            <a:r>
              <a:rPr dirty="0" spc="20"/>
              <a:t> </a:t>
            </a:r>
            <a:r>
              <a:rPr dirty="0"/>
              <a:t>secure</a:t>
            </a:r>
            <a:r>
              <a:rPr dirty="0" spc="25"/>
              <a:t> </a:t>
            </a:r>
            <a:r>
              <a:rPr dirty="0"/>
              <a:t>banking</a:t>
            </a:r>
            <a:r>
              <a:rPr dirty="0" spc="25"/>
              <a:t> </a:t>
            </a:r>
            <a:r>
              <a:rPr dirty="0" spc="-10"/>
              <a:t>communication.</a:t>
            </a: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/>
              <a:t>•The</a:t>
            </a:r>
            <a:r>
              <a:rPr dirty="0" spc="20"/>
              <a:t> </a:t>
            </a:r>
            <a:r>
              <a:rPr dirty="0"/>
              <a:t>project</a:t>
            </a:r>
            <a:r>
              <a:rPr dirty="0" spc="25"/>
              <a:t> </a:t>
            </a:r>
            <a:r>
              <a:rPr dirty="0"/>
              <a:t>combines</a:t>
            </a:r>
            <a:r>
              <a:rPr dirty="0" spc="25"/>
              <a:t> </a:t>
            </a:r>
            <a:r>
              <a:rPr dirty="0"/>
              <a:t>Networking</a:t>
            </a:r>
            <a:r>
              <a:rPr dirty="0" spc="20"/>
              <a:t> </a:t>
            </a:r>
            <a:r>
              <a:rPr dirty="0"/>
              <a:t>+</a:t>
            </a:r>
            <a:r>
              <a:rPr dirty="0" spc="25"/>
              <a:t> </a:t>
            </a:r>
            <a:r>
              <a:rPr dirty="0"/>
              <a:t>Programming</a:t>
            </a:r>
            <a:r>
              <a:rPr dirty="0" spc="25"/>
              <a:t> </a:t>
            </a:r>
            <a:r>
              <a:rPr dirty="0"/>
              <a:t>+</a:t>
            </a:r>
            <a:r>
              <a:rPr dirty="0" spc="25"/>
              <a:t> </a:t>
            </a:r>
            <a:r>
              <a:rPr dirty="0"/>
              <a:t>Web</a:t>
            </a:r>
            <a:r>
              <a:rPr dirty="0" spc="-70"/>
              <a:t> </a:t>
            </a:r>
            <a:r>
              <a:rPr dirty="0"/>
              <a:t>Application</a:t>
            </a:r>
            <a:r>
              <a:rPr dirty="0" spc="20"/>
              <a:t> </a:t>
            </a:r>
            <a:r>
              <a:rPr dirty="0"/>
              <a:t>+</a:t>
            </a:r>
            <a:r>
              <a:rPr dirty="0" spc="25"/>
              <a:t> </a:t>
            </a:r>
            <a:r>
              <a:rPr dirty="0" spc="-10"/>
              <a:t>Cybersecurity.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65" y="77950"/>
            <a:ext cx="836299" cy="9228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2877" y="77950"/>
            <a:ext cx="915871" cy="10007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36775" y="2340137"/>
            <a:ext cx="26816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THANK</a:t>
            </a:r>
            <a:r>
              <a:rPr dirty="0" sz="3600" spc="-95"/>
              <a:t> </a:t>
            </a:r>
            <a:r>
              <a:rPr dirty="0" sz="3600" spc="-25"/>
              <a:t>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terms:created xsi:type="dcterms:W3CDTF">2026-09-03T13:14:36Z</dcterms:created>
  <dcterms:modified xsi:type="dcterms:W3CDTF">2026-09-03T13:14:36Z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2026-09-03T00:00:00Z</vt:filetime>
  </property>
</Properties>
</file>